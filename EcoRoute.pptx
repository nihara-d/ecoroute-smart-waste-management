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nonymous Pro" charset="1" panose="02060609030202000504"/>
      <p:regular r:id="rId19"/>
    </p:embeddedFont>
    <p:embeddedFont>
      <p:font typeface="Anonymous Pro Bold" charset="1" panose="02060809030202000504"/>
      <p:regular r:id="rId20"/>
    </p:embeddedFont>
    <p:embeddedFont>
      <p:font typeface="Anonymous Pro Italics" charset="1" panose="020606090302020005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36377" y="7936471"/>
            <a:ext cx="3551623" cy="2350529"/>
          </a:xfrm>
          <a:custGeom>
            <a:avLst/>
            <a:gdLst/>
            <a:ahLst/>
            <a:cxnLst/>
            <a:rect r="r" b="b" t="t" l="l"/>
            <a:pathLst>
              <a:path h="2350529" w="3551623">
                <a:moveTo>
                  <a:pt x="0" y="0"/>
                </a:moveTo>
                <a:lnTo>
                  <a:pt x="3551623" y="0"/>
                </a:lnTo>
                <a:lnTo>
                  <a:pt x="3551623" y="2350529"/>
                </a:lnTo>
                <a:lnTo>
                  <a:pt x="0" y="23505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897" y="7948733"/>
            <a:ext cx="3551623" cy="2350529"/>
          </a:xfrm>
          <a:custGeom>
            <a:avLst/>
            <a:gdLst/>
            <a:ahLst/>
            <a:cxnLst/>
            <a:rect r="r" b="b" t="t" l="l"/>
            <a:pathLst>
              <a:path h="2350529" w="3551623">
                <a:moveTo>
                  <a:pt x="3551623" y="0"/>
                </a:moveTo>
                <a:lnTo>
                  <a:pt x="0" y="0"/>
                </a:lnTo>
                <a:lnTo>
                  <a:pt x="0" y="2350529"/>
                </a:lnTo>
                <a:lnTo>
                  <a:pt x="3551623" y="2350529"/>
                </a:lnTo>
                <a:lnTo>
                  <a:pt x="355162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60660" y="3344780"/>
            <a:ext cx="11566680" cy="2553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28"/>
              </a:lnSpc>
              <a:spcBef>
                <a:spcPct val="0"/>
              </a:spcBef>
            </a:pPr>
            <a:r>
              <a:rPr lang="en-US" sz="14877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ECO_ROUTE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320288" y="2809428"/>
            <a:ext cx="3423515" cy="2798724"/>
          </a:xfrm>
          <a:custGeom>
            <a:avLst/>
            <a:gdLst/>
            <a:ahLst/>
            <a:cxnLst/>
            <a:rect r="r" b="b" t="t" l="l"/>
            <a:pathLst>
              <a:path h="2798724" w="3423515">
                <a:moveTo>
                  <a:pt x="0" y="0"/>
                </a:moveTo>
                <a:lnTo>
                  <a:pt x="3423516" y="0"/>
                </a:lnTo>
                <a:lnTo>
                  <a:pt x="3423516" y="2798724"/>
                </a:lnTo>
                <a:lnTo>
                  <a:pt x="0" y="27987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2544196" y="2809428"/>
            <a:ext cx="3423515" cy="2798724"/>
          </a:xfrm>
          <a:custGeom>
            <a:avLst/>
            <a:gdLst/>
            <a:ahLst/>
            <a:cxnLst/>
            <a:rect r="r" b="b" t="t" l="l"/>
            <a:pathLst>
              <a:path h="2798724" w="3423515">
                <a:moveTo>
                  <a:pt x="3423516" y="0"/>
                </a:moveTo>
                <a:lnTo>
                  <a:pt x="0" y="0"/>
                </a:lnTo>
                <a:lnTo>
                  <a:pt x="0" y="2798724"/>
                </a:lnTo>
                <a:lnTo>
                  <a:pt x="3423516" y="2798724"/>
                </a:lnTo>
                <a:lnTo>
                  <a:pt x="3423516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5063866"/>
            <a:ext cx="637073" cy="159268"/>
          </a:xfrm>
          <a:custGeom>
            <a:avLst/>
            <a:gdLst/>
            <a:ahLst/>
            <a:cxnLst/>
            <a:rect r="r" b="b" t="t" l="l"/>
            <a:pathLst>
              <a:path h="159268" w="637073">
                <a:moveTo>
                  <a:pt x="0" y="0"/>
                </a:moveTo>
                <a:lnTo>
                  <a:pt x="637073" y="0"/>
                </a:lnTo>
                <a:lnTo>
                  <a:pt x="637073" y="159268"/>
                </a:lnTo>
                <a:lnTo>
                  <a:pt x="0" y="1592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7215" y="6035168"/>
            <a:ext cx="17793571" cy="1669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79"/>
              </a:lnSpc>
              <a:spcBef>
                <a:spcPct val="0"/>
              </a:spcBef>
            </a:pPr>
            <a:r>
              <a:rPr lang="en-US" sz="4771" spc="1560" strike="noStrike" u="non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SMART WASTE MANAGEMENT SYSTEM</a:t>
            </a:r>
          </a:p>
          <a:p>
            <a:pPr algn="ctr" marL="0" indent="0" lvl="0">
              <a:lnSpc>
                <a:spcPts val="6679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622227" y="5063866"/>
            <a:ext cx="637073" cy="159268"/>
          </a:xfrm>
          <a:custGeom>
            <a:avLst/>
            <a:gdLst/>
            <a:ahLst/>
            <a:cxnLst/>
            <a:rect r="r" b="b" t="t" l="l"/>
            <a:pathLst>
              <a:path h="159268" w="637073">
                <a:moveTo>
                  <a:pt x="0" y="0"/>
                </a:moveTo>
                <a:lnTo>
                  <a:pt x="637073" y="0"/>
                </a:lnTo>
                <a:lnTo>
                  <a:pt x="637073" y="159268"/>
                </a:lnTo>
                <a:lnTo>
                  <a:pt x="0" y="1592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29332" y="7113975"/>
            <a:ext cx="17793571" cy="71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99"/>
              </a:lnSpc>
              <a:spcBef>
                <a:spcPct val="0"/>
              </a:spcBef>
            </a:pPr>
            <a:r>
              <a:rPr lang="en-US" sz="2071" spc="677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MIC</a:t>
            </a:r>
            <a:r>
              <a:rPr lang="en-US" sz="2071" spc="677" strike="noStrike" u="non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R</a:t>
            </a:r>
            <a:r>
              <a:rPr lang="en-US" sz="2071" spc="677" strike="noStrike" u="non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O</a:t>
            </a:r>
            <a:r>
              <a:rPr lang="en-US" sz="2071" spc="677" strike="noStrike" u="non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S</a:t>
            </a:r>
            <a:r>
              <a:rPr lang="en-US" sz="2071" spc="677" strike="noStrike" u="non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ERVIC</a:t>
            </a:r>
            <a:r>
              <a:rPr lang="en-US" sz="2071" spc="677" strike="noStrike" u="non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E</a:t>
            </a:r>
            <a:r>
              <a:rPr lang="en-US" sz="2071" spc="677" strike="noStrike" u="non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S</a:t>
            </a:r>
            <a:r>
              <a:rPr lang="en-US" sz="2071" spc="677" strike="noStrike" u="non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</a:t>
            </a:r>
            <a:r>
              <a:rPr lang="en-US" sz="2071" spc="677" strike="noStrike" u="non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ARCHIT</a:t>
            </a:r>
            <a:r>
              <a:rPr lang="en-US" sz="2071" spc="677" strike="noStrike" u="non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E</a:t>
            </a:r>
            <a:r>
              <a:rPr lang="en-US" sz="2071" spc="677" strike="noStrike" u="non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C</a:t>
            </a:r>
            <a:r>
              <a:rPr lang="en-US" sz="2071" spc="677" strike="noStrike" u="non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T</a:t>
            </a:r>
            <a:r>
              <a:rPr lang="en-US" sz="2071" spc="677" strike="noStrike" u="non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URE ·NODE.JS</a:t>
            </a:r>
            <a:r>
              <a:rPr lang="en-US" sz="2071" spc="677" strike="noStrike" u="non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</a:t>
            </a:r>
            <a:r>
              <a:rPr lang="en-US" sz="2071" spc="677" strike="noStrike" u="non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+ EXPRESS · </a:t>
            </a:r>
            <a:r>
              <a:rPr lang="en-US" sz="2071" spc="677" strike="noStrike" u="non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S</a:t>
            </a:r>
            <a:r>
              <a:rPr lang="en-US" sz="2071" spc="677" strike="noStrike" u="non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WAGG</a:t>
            </a:r>
            <a:r>
              <a:rPr lang="en-US" sz="2071" spc="677" strike="noStrike" u="non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E</a:t>
            </a:r>
            <a:r>
              <a:rPr lang="en-US" sz="2071" spc="677" strike="noStrike" u="non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R API</a:t>
            </a:r>
          </a:p>
          <a:p>
            <a:pPr algn="ctr" marL="0" indent="0" lvl="0">
              <a:lnSpc>
                <a:spcPts val="28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314450"/>
            <a:ext cx="8048510" cy="2237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48"/>
              </a:lnSpc>
            </a:pPr>
            <a:r>
              <a:rPr lang="en-US" sz="96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OBJECTS</a:t>
            </a:r>
          </a:p>
          <a:p>
            <a:pPr algn="l">
              <a:lnSpc>
                <a:spcPts val="8448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950548"/>
            <a:ext cx="16876710" cy="731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Design and implement a Microservices Architecture for a real-world business domain</a:t>
            </a:r>
          </a:p>
          <a:p>
            <a:pPr algn="l">
              <a:lnSpc>
                <a:spcPts val="4439"/>
              </a:lnSpc>
            </a:pPr>
          </a:p>
          <a:p>
            <a:pPr algn="l">
              <a:lnSpc>
                <a:spcPts val="4439"/>
              </a:lnSpc>
            </a:pPr>
            <a:r>
              <a:rPr lang="en-US" sz="3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Understand the role an API Gateway plays in connecting microservices under a single port</a:t>
            </a:r>
          </a:p>
          <a:p>
            <a:pPr algn="l">
              <a:lnSpc>
                <a:spcPts val="4439"/>
              </a:lnSpc>
            </a:pPr>
          </a:p>
          <a:p>
            <a:pPr algn="l">
              <a:lnSpc>
                <a:spcPts val="4439"/>
              </a:lnSpc>
            </a:pPr>
            <a:r>
              <a:rPr lang="en-US" sz="3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Gain hands-on experience with REST API development, Swagger documentation, and service isolation</a:t>
            </a:r>
          </a:p>
          <a:p>
            <a:pPr algn="l">
              <a:lnSpc>
                <a:spcPts val="4439"/>
              </a:lnSpc>
            </a:pPr>
          </a:p>
          <a:p>
            <a:pPr algn="l">
              <a:lnSpc>
                <a:spcPts val="4439"/>
              </a:lnSpc>
            </a:pPr>
            <a:r>
              <a:rPr lang="en-US" sz="3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Each member independently develops, documents, and demonstrates one complete microservice</a:t>
            </a:r>
          </a:p>
          <a:p>
            <a:pPr algn="l">
              <a:lnSpc>
                <a:spcPts val="4439"/>
              </a:lnSpc>
            </a:pPr>
          </a:p>
          <a:p>
            <a:pPr algn="l">
              <a:lnSpc>
                <a:spcPts val="443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13721"/>
            <a:ext cx="16884945" cy="1171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48"/>
              </a:lnSpc>
            </a:pPr>
            <a:r>
              <a:rPr lang="en-US" sz="96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PROBLEM &amp; SOLUTION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01528" y="2781300"/>
            <a:ext cx="8442472" cy="721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8"/>
              </a:lnSpc>
            </a:pPr>
            <a:r>
              <a:rPr lang="en-US" sz="3424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The Problem</a:t>
            </a:r>
          </a:p>
          <a:p>
            <a:pPr algn="l">
              <a:lnSpc>
                <a:spcPts val="4108"/>
              </a:lnSpc>
            </a:pPr>
          </a:p>
          <a:p>
            <a:pPr algn="l" marL="739265" indent="-369633" lvl="1">
              <a:lnSpc>
                <a:spcPts val="4108"/>
              </a:lnSpc>
              <a:buFont typeface="Arial"/>
              <a:buChar char="•"/>
            </a:pPr>
            <a:r>
              <a:rPr lang="en-US" sz="3424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Overflowing bins cause urban health hazards</a:t>
            </a:r>
          </a:p>
          <a:p>
            <a:pPr algn="l" marL="739265" indent="-369633" lvl="1">
              <a:lnSpc>
                <a:spcPts val="4108"/>
              </a:lnSpc>
              <a:buFont typeface="Arial"/>
              <a:buChar char="•"/>
            </a:pPr>
            <a:r>
              <a:rPr lang="en-US" sz="3424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Inefficient truck routing wastes fuel &amp; time</a:t>
            </a:r>
          </a:p>
          <a:p>
            <a:pPr algn="l" marL="739265" indent="-369633" lvl="1">
              <a:lnSpc>
                <a:spcPts val="4108"/>
              </a:lnSpc>
              <a:buFont typeface="Arial"/>
              <a:buChar char="•"/>
            </a:pPr>
            <a:r>
              <a:rPr lang="en-US" sz="3424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Citizens have no incentive to recycle properly</a:t>
            </a:r>
          </a:p>
          <a:p>
            <a:pPr algn="l" marL="739265" indent="-369633" lvl="1">
              <a:lnSpc>
                <a:spcPts val="4108"/>
              </a:lnSpc>
              <a:buFont typeface="Arial"/>
              <a:buChar char="•"/>
            </a:pPr>
            <a:r>
              <a:rPr lang="en-US" sz="3424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Hazardous waste often ends up in landfills</a:t>
            </a:r>
          </a:p>
          <a:p>
            <a:pPr algn="l" marL="739265" indent="-369633" lvl="1">
              <a:lnSpc>
                <a:spcPts val="4108"/>
              </a:lnSpc>
              <a:buFont typeface="Arial"/>
              <a:buChar char="•"/>
            </a:pPr>
            <a:r>
              <a:rPr lang="en-US" sz="3424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No real-time visibility into waste collection</a:t>
            </a:r>
          </a:p>
          <a:p>
            <a:pPr algn="l">
              <a:lnSpc>
                <a:spcPts val="4108"/>
              </a:lnSpc>
            </a:pPr>
          </a:p>
          <a:p>
            <a:pPr algn="l">
              <a:lnSpc>
                <a:spcPts val="4108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471172" y="2781300"/>
            <a:ext cx="8442472" cy="721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8"/>
              </a:lnSpc>
            </a:pPr>
            <a:r>
              <a:rPr lang="en-US" sz="3424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EcoRoute Solution</a:t>
            </a:r>
          </a:p>
          <a:p>
            <a:pPr algn="l">
              <a:lnSpc>
                <a:spcPts val="4108"/>
              </a:lnSpc>
            </a:pPr>
          </a:p>
          <a:p>
            <a:pPr algn="l" marL="739265" indent="-369633" lvl="1">
              <a:lnSpc>
                <a:spcPts val="4108"/>
              </a:lnSpc>
              <a:buFont typeface="Arial"/>
              <a:buChar char="•"/>
            </a:pPr>
            <a:r>
              <a:rPr lang="en-US" sz="3424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IoT smart bins with real-time fill monitoring</a:t>
            </a:r>
          </a:p>
          <a:p>
            <a:pPr algn="l" marL="739265" indent="-369633" lvl="1">
              <a:lnSpc>
                <a:spcPts val="4108"/>
              </a:lnSpc>
              <a:buFont typeface="Arial"/>
              <a:buChar char="•"/>
            </a:pPr>
            <a:r>
              <a:rPr lang="en-US" sz="3424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AI-powered route optimization for trucks</a:t>
            </a:r>
          </a:p>
          <a:p>
            <a:pPr algn="l" marL="739265" indent="-369633" lvl="1">
              <a:lnSpc>
                <a:spcPts val="4108"/>
              </a:lnSpc>
              <a:buFont typeface="Arial"/>
              <a:buChar char="•"/>
            </a:pPr>
            <a:r>
              <a:rPr lang="en-US" sz="3424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Citizen Eco-Points rewards for recycling</a:t>
            </a:r>
          </a:p>
          <a:p>
            <a:pPr algn="l" marL="739265" indent="-369633" lvl="1">
              <a:lnSpc>
                <a:spcPts val="4108"/>
              </a:lnSpc>
              <a:buFont typeface="Arial"/>
              <a:buChar char="•"/>
            </a:pPr>
            <a:r>
              <a:rPr lang="en-US" sz="3424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Dedicated E-Waste tracking &amp; compliance</a:t>
            </a:r>
          </a:p>
          <a:p>
            <a:pPr algn="l" marL="739265" indent="-369633" lvl="1">
              <a:lnSpc>
                <a:spcPts val="4108"/>
              </a:lnSpc>
              <a:buFont typeface="Arial"/>
              <a:buChar char="•"/>
            </a:pPr>
            <a:r>
              <a:rPr lang="en-US" sz="3424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Unified API Gateway for seamless access</a:t>
            </a:r>
          </a:p>
          <a:p>
            <a:pPr algn="l">
              <a:lnSpc>
                <a:spcPts val="4108"/>
              </a:lnSpc>
            </a:pPr>
          </a:p>
          <a:p>
            <a:pPr algn="l">
              <a:lnSpc>
                <a:spcPts val="4108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66710" y="2618751"/>
            <a:ext cx="14994963" cy="6883281"/>
          </a:xfrm>
          <a:custGeom>
            <a:avLst/>
            <a:gdLst/>
            <a:ahLst/>
            <a:cxnLst/>
            <a:rect r="r" b="b" t="t" l="l"/>
            <a:pathLst>
              <a:path h="6883281" w="14994963">
                <a:moveTo>
                  <a:pt x="0" y="0"/>
                </a:moveTo>
                <a:lnTo>
                  <a:pt x="14994963" y="0"/>
                </a:lnTo>
                <a:lnTo>
                  <a:pt x="14994963" y="6883281"/>
                </a:lnTo>
                <a:lnTo>
                  <a:pt x="0" y="68832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25525" y="863681"/>
            <a:ext cx="17315843" cy="2237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48"/>
              </a:lnSpc>
            </a:pPr>
            <a:r>
              <a:rPr lang="en-US" b="true" sz="9600">
                <a:solidFill>
                  <a:srgbClr val="2B8266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MICROSERVICES ARCHITECTURE</a:t>
            </a:r>
          </a:p>
          <a:p>
            <a:pPr algn="ctr">
              <a:lnSpc>
                <a:spcPts val="8448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9064" y="1029785"/>
            <a:ext cx="16660236" cy="1997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8"/>
              </a:lnSpc>
            </a:pPr>
            <a:r>
              <a:rPr lang="en-US" sz="86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THE NEED FOR AN API GATEWAY</a:t>
            </a:r>
          </a:p>
          <a:p>
            <a:pPr algn="ctr">
              <a:lnSpc>
                <a:spcPts val="7568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556293"/>
            <a:ext cx="8625861" cy="794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699" b="true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Without Gateway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Client must know 4 different ports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  <a:r>
              <a:rPr lang="en-US" sz="2699" i="true">
                <a:solidFill>
                  <a:srgbClr val="C1FF72"/>
                </a:solidFill>
                <a:latin typeface="Anonymous Pro Italics"/>
                <a:ea typeface="Anonymous Pro Italics"/>
                <a:cs typeface="Anonymous Pro Italics"/>
                <a:sym typeface="Anonymous Pro Italics"/>
              </a:rPr>
              <a:t>:3001 for Bin Service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  <a:r>
              <a:rPr lang="en-US" sz="2699" i="true">
                <a:solidFill>
                  <a:srgbClr val="C1FF72"/>
                </a:solidFill>
                <a:latin typeface="Anonymous Pro Italics"/>
                <a:ea typeface="Anonymous Pro Italics"/>
                <a:cs typeface="Anonymous Pro Italics"/>
                <a:sym typeface="Anonymous Pro Italics"/>
              </a:rPr>
              <a:t>:3002 for Dispatch Service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  <a:r>
              <a:rPr lang="en-US" sz="2699" i="true">
                <a:solidFill>
                  <a:srgbClr val="C1FF72"/>
                </a:solidFill>
                <a:latin typeface="Anonymous Pro Italics"/>
                <a:ea typeface="Anonymous Pro Italics"/>
                <a:cs typeface="Anonymous Pro Italics"/>
                <a:sym typeface="Anonymous Pro Italics"/>
              </a:rPr>
              <a:t>:3003 for Citizen Service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  <a:r>
              <a:rPr lang="en-US" sz="2699" i="true">
                <a:solidFill>
                  <a:srgbClr val="C1FF72"/>
                </a:solidFill>
                <a:latin typeface="Anonymous Pro Italics"/>
                <a:ea typeface="Anonymous Pro Italics"/>
                <a:cs typeface="Anonymous Pro Italics"/>
                <a:sym typeface="Anonymous Pro Italics"/>
              </a:rPr>
              <a:t>:3004 for E-Waste Service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  <a:r>
              <a:rPr lang="en-US" sz="2699" b="true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CORS must be managed per service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  <a:r>
              <a:rPr lang="en-US" sz="2699" b="true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No central logging or rate limiting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  <a:r>
              <a:rPr lang="en-US" sz="2699" b="true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Tight coupling between client &amp; services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448169" y="2556293"/>
            <a:ext cx="7506456" cy="753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699" b="true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Without Gateway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Single port :3000 for everything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  <a:r>
              <a:rPr lang="en-US" sz="2699" i="true">
                <a:solidFill>
                  <a:srgbClr val="C1FF72"/>
                </a:solidFill>
                <a:latin typeface="Anonymous Pro Italics"/>
                <a:ea typeface="Anonymous Pro Italics"/>
                <a:cs typeface="Anonymous Pro Italics"/>
                <a:sym typeface="Anonymous Pro Italics"/>
              </a:rPr>
              <a:t>/api/bins → Bin Service :3001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  <a:r>
              <a:rPr lang="en-US" sz="2699" i="true">
                <a:solidFill>
                  <a:srgbClr val="C1FF72"/>
                </a:solidFill>
                <a:latin typeface="Anonymous Pro Italics"/>
                <a:ea typeface="Anonymous Pro Italics"/>
                <a:cs typeface="Anonymous Pro Italics"/>
                <a:sym typeface="Anonymous Pro Italics"/>
              </a:rPr>
              <a:t>/api/dispatch → Dispatch :3002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  <a:r>
              <a:rPr lang="en-US" sz="2699" i="true">
                <a:solidFill>
                  <a:srgbClr val="C1FF72"/>
                </a:solidFill>
                <a:latin typeface="Anonymous Pro Italics"/>
                <a:ea typeface="Anonymous Pro Italics"/>
                <a:cs typeface="Anonymous Pro Italics"/>
                <a:sym typeface="Anonymous Pro Italics"/>
              </a:rPr>
              <a:t>/api/citizen → Citizen :3003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  <a:r>
              <a:rPr lang="en-US" sz="2699" i="true">
                <a:solidFill>
                  <a:srgbClr val="C1FF72"/>
                </a:solidFill>
                <a:latin typeface="Anonymous Pro Italics"/>
                <a:ea typeface="Anonymous Pro Italics"/>
                <a:cs typeface="Anonymous Pro Italics"/>
                <a:sym typeface="Anonymous Pro Italics"/>
              </a:rPr>
              <a:t>/api/ewaste → E-Waste :3004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  <a:r>
              <a:rPr lang="en-US" sz="2699" b="true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Centralized CORS &amp; rate limiting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  <a:r>
              <a:rPr lang="en-US" sz="2699" b="true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Unified logging &amp; health checks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  <a:r>
              <a:rPr lang="en-US" sz="2699" b="true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Loose coupling — scalable architecture</a:t>
            </a:r>
          </a:p>
          <a:p>
            <a:pPr algn="l">
              <a:lnSpc>
                <a:spcPts val="323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1106" y="5733249"/>
            <a:ext cx="15205789" cy="4000421"/>
          </a:xfrm>
          <a:custGeom>
            <a:avLst/>
            <a:gdLst/>
            <a:ahLst/>
            <a:cxnLst/>
            <a:rect r="r" b="b" t="t" l="l"/>
            <a:pathLst>
              <a:path h="4000421" w="15205789">
                <a:moveTo>
                  <a:pt x="0" y="0"/>
                </a:moveTo>
                <a:lnTo>
                  <a:pt x="15205788" y="0"/>
                </a:lnTo>
                <a:lnTo>
                  <a:pt x="15205788" y="4000421"/>
                </a:lnTo>
                <a:lnTo>
                  <a:pt x="0" y="40004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9064" y="363955"/>
            <a:ext cx="16660236" cy="185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76"/>
              </a:lnSpc>
            </a:pPr>
            <a:r>
              <a:rPr lang="en-US" sz="74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1: SMART BIN MANAGEMENT</a:t>
            </a:r>
          </a:p>
          <a:p>
            <a:pPr algn="ctr">
              <a:lnSpc>
                <a:spcPts val="5456"/>
              </a:lnSpc>
            </a:pPr>
            <a:r>
              <a:rPr lang="en-US" b="true" sz="4400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SEWWANDI M.P.S.S.S.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556293"/>
            <a:ext cx="8625861" cy="384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699" b="true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Responsibility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Acts as the Digital Tw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in for ph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ys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ic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al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was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te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bi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n i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n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frastr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u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c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t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u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r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e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.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M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anage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s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re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g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i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s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tra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tion,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geo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lo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cat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i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o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n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,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and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re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a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l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-t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im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e s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t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a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tu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s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of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a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l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l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s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ma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r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t b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i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n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s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.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448169" y="2556293"/>
            <a:ext cx="7506456" cy="343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699" b="true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Unique Logic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Threshold Trigger: When a bin's fill_level reaches 80%, the system automatically emits a dispatch notification to the Logistics Service — enabling proactive collection.</a:t>
            </a:r>
          </a:p>
          <a:p>
            <a:pPr algn="l">
              <a:lnSpc>
                <a:spcPts val="323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0361" y="5820439"/>
            <a:ext cx="14777641" cy="4019024"/>
          </a:xfrm>
          <a:custGeom>
            <a:avLst/>
            <a:gdLst/>
            <a:ahLst/>
            <a:cxnLst/>
            <a:rect r="r" b="b" t="t" l="l"/>
            <a:pathLst>
              <a:path h="4019024" w="14777641">
                <a:moveTo>
                  <a:pt x="0" y="0"/>
                </a:moveTo>
                <a:lnTo>
                  <a:pt x="14777642" y="0"/>
                </a:lnTo>
                <a:lnTo>
                  <a:pt x="14777642" y="4019024"/>
                </a:lnTo>
                <a:lnTo>
                  <a:pt x="0" y="4019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9064" y="363955"/>
            <a:ext cx="16660236" cy="185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76"/>
              </a:lnSpc>
            </a:pPr>
            <a:r>
              <a:rPr lang="en-US" sz="74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2: LOGISTICS &amp; DISPATCH</a:t>
            </a:r>
          </a:p>
          <a:p>
            <a:pPr algn="ctr">
              <a:lnSpc>
                <a:spcPts val="5456"/>
              </a:lnSpc>
            </a:pPr>
            <a:r>
              <a:rPr lang="en-US" b="true" sz="4400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H</a:t>
            </a:r>
            <a:r>
              <a:rPr lang="en-US" b="true" sz="4400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ANSIKA J.A.J.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556293"/>
            <a:ext cx="8625861" cy="384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699" b="true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Responsibility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The "Bra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in" of EcoRoute. M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anages 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the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fleet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of garbage tr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u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cks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and a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ssigns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c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o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lle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ct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i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o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n t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asks to d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riv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ers based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on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avai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labi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lity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and p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roximi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ty.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448169" y="2556293"/>
            <a:ext cx="7506456" cy="343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699" b="true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Unique Logic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Route Optimization Engine: Filters full bins from Bin Service and assigns the NEAREST available truck using Euclidean distance calculation — minimizing travel time and fuel consumption.</a:t>
            </a:r>
          </a:p>
          <a:p>
            <a:pPr algn="l">
              <a:lnSpc>
                <a:spcPts val="323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8261" y="5739987"/>
            <a:ext cx="15834674" cy="4101224"/>
          </a:xfrm>
          <a:custGeom>
            <a:avLst/>
            <a:gdLst/>
            <a:ahLst/>
            <a:cxnLst/>
            <a:rect r="r" b="b" t="t" l="l"/>
            <a:pathLst>
              <a:path h="4101224" w="15834674">
                <a:moveTo>
                  <a:pt x="0" y="0"/>
                </a:moveTo>
                <a:lnTo>
                  <a:pt x="15834673" y="0"/>
                </a:lnTo>
                <a:lnTo>
                  <a:pt x="15834673" y="4101224"/>
                </a:lnTo>
                <a:lnTo>
                  <a:pt x="0" y="41012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363955"/>
            <a:ext cx="18131195" cy="185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76"/>
              </a:lnSpc>
            </a:pPr>
            <a:r>
              <a:rPr lang="en-US" sz="74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3: CITIZEN ENGAGEMENT &amp; REWARDS</a:t>
            </a:r>
          </a:p>
          <a:p>
            <a:pPr algn="ctr">
              <a:lnSpc>
                <a:spcPts val="5456"/>
              </a:lnSpc>
            </a:pPr>
            <a:r>
              <a:rPr lang="en-US" sz="44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DAYARATHNE S.H.N.R.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556293"/>
            <a:ext cx="8625861" cy="425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699" b="true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Responsibility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Focuses on the User s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ide of the Smart City. M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anages ci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tizen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profiles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and gamifies recycling thro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ugh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an Ec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o-Poi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nts 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system with t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i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ers and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b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adges.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811366" y="2556293"/>
            <a:ext cx="8476634" cy="384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699" b="true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Unique Logic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Points &amp; Tier Engine: Citizens earn Eco-Points per kg recycled (Plastic=50pts, Metal=60pts, Electronic=100pts). Automatically upgrades Bronze→Silver→Gold tier and awards achievement badges.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3064" y="5708050"/>
            <a:ext cx="15806236" cy="4180162"/>
          </a:xfrm>
          <a:custGeom>
            <a:avLst/>
            <a:gdLst/>
            <a:ahLst/>
            <a:cxnLst/>
            <a:rect r="r" b="b" t="t" l="l"/>
            <a:pathLst>
              <a:path h="4180162" w="15806236">
                <a:moveTo>
                  <a:pt x="0" y="0"/>
                </a:moveTo>
                <a:lnTo>
                  <a:pt x="15806236" y="0"/>
                </a:lnTo>
                <a:lnTo>
                  <a:pt x="15806236" y="4180162"/>
                </a:lnTo>
                <a:lnTo>
                  <a:pt x="0" y="41801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363955"/>
            <a:ext cx="18131195" cy="185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76"/>
              </a:lnSpc>
            </a:pPr>
            <a:r>
              <a:rPr lang="en-US" sz="74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4: HAZARDOUS &amp; E-WASTE TRACKER</a:t>
            </a:r>
          </a:p>
          <a:p>
            <a:pPr algn="ctr">
              <a:lnSpc>
                <a:spcPts val="5456"/>
              </a:lnSpc>
            </a:pPr>
            <a:r>
              <a:rPr lang="en-US" sz="44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GUN</a:t>
            </a:r>
            <a:r>
              <a:rPr lang="en-US" sz="44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ARATHNE A.A.D.T.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556293"/>
            <a:ext cx="8625861" cy="425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699" b="true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Responsibility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Specialized serv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ice for tracking d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angerous ma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te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rials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(batteries, chemicals, medical waste).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Ensures c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omplia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nc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e with Basel Convent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ion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and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environment</a:t>
            </a: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al regulations.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811366" y="2556293"/>
            <a:ext cx="8476634" cy="384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699" b="true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Unique Logic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Auto-Router + Immutable Audit Log: Automatically routes each waste item to the correct specialized processing center. Every status change is permanently logged for environmental compliance.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2964" y="1614385"/>
            <a:ext cx="16443461" cy="7997562"/>
          </a:xfrm>
          <a:custGeom>
            <a:avLst/>
            <a:gdLst/>
            <a:ahLst/>
            <a:cxnLst/>
            <a:rect r="r" b="b" t="t" l="l"/>
            <a:pathLst>
              <a:path h="7997562" w="16443461">
                <a:moveTo>
                  <a:pt x="0" y="0"/>
                </a:moveTo>
                <a:lnTo>
                  <a:pt x="16443461" y="0"/>
                </a:lnTo>
                <a:lnTo>
                  <a:pt x="16443461" y="7997562"/>
                </a:lnTo>
                <a:lnTo>
                  <a:pt x="0" y="7997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55" t="-1246" r="-1923" b="-202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2964" y="2264917"/>
            <a:ext cx="8005426" cy="3284317"/>
          </a:xfrm>
          <a:custGeom>
            <a:avLst/>
            <a:gdLst/>
            <a:ahLst/>
            <a:cxnLst/>
            <a:rect r="r" b="b" t="t" l="l"/>
            <a:pathLst>
              <a:path h="3284317" w="8005426">
                <a:moveTo>
                  <a:pt x="0" y="0"/>
                </a:moveTo>
                <a:lnTo>
                  <a:pt x="8005426" y="0"/>
                </a:lnTo>
                <a:lnTo>
                  <a:pt x="8005426" y="3284317"/>
                </a:lnTo>
                <a:lnTo>
                  <a:pt x="0" y="32843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10" t="0" r="-2525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01367" y="2264917"/>
            <a:ext cx="7975057" cy="3233452"/>
          </a:xfrm>
          <a:custGeom>
            <a:avLst/>
            <a:gdLst/>
            <a:ahLst/>
            <a:cxnLst/>
            <a:rect r="r" b="b" t="t" l="l"/>
            <a:pathLst>
              <a:path h="3233452" w="7975057">
                <a:moveTo>
                  <a:pt x="0" y="0"/>
                </a:moveTo>
                <a:lnTo>
                  <a:pt x="7975058" y="0"/>
                </a:lnTo>
                <a:lnTo>
                  <a:pt x="7975058" y="3233453"/>
                </a:lnTo>
                <a:lnTo>
                  <a:pt x="0" y="32334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7" t="0" r="-17044" b="-989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2964" y="6396959"/>
            <a:ext cx="8005426" cy="3633904"/>
          </a:xfrm>
          <a:custGeom>
            <a:avLst/>
            <a:gdLst/>
            <a:ahLst/>
            <a:cxnLst/>
            <a:rect r="r" b="b" t="t" l="l"/>
            <a:pathLst>
              <a:path h="3633904" w="8005426">
                <a:moveTo>
                  <a:pt x="0" y="0"/>
                </a:moveTo>
                <a:lnTo>
                  <a:pt x="8005426" y="0"/>
                </a:lnTo>
                <a:lnTo>
                  <a:pt x="8005426" y="3633904"/>
                </a:lnTo>
                <a:lnTo>
                  <a:pt x="0" y="36339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373" r="0" b="-777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318492" y="6396959"/>
            <a:ext cx="7957933" cy="3633904"/>
          </a:xfrm>
          <a:custGeom>
            <a:avLst/>
            <a:gdLst/>
            <a:ahLst/>
            <a:cxnLst/>
            <a:rect r="r" b="b" t="t" l="l"/>
            <a:pathLst>
              <a:path h="3633904" w="7957933">
                <a:moveTo>
                  <a:pt x="0" y="0"/>
                </a:moveTo>
                <a:lnTo>
                  <a:pt x="7957933" y="0"/>
                </a:lnTo>
                <a:lnTo>
                  <a:pt x="7957933" y="3633904"/>
                </a:lnTo>
                <a:lnTo>
                  <a:pt x="0" y="36339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6195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363955"/>
            <a:ext cx="18131195" cy="105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08"/>
              </a:lnSpc>
            </a:pPr>
            <a:r>
              <a:rPr lang="en-US" sz="67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SWAGGER DOCUMENTATION - DIRECT ACCESS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5615" y="1676426"/>
            <a:ext cx="16121847" cy="7814520"/>
          </a:xfrm>
          <a:custGeom>
            <a:avLst/>
            <a:gdLst/>
            <a:ahLst/>
            <a:cxnLst/>
            <a:rect r="r" b="b" t="t" l="l"/>
            <a:pathLst>
              <a:path h="7814520" w="16121847">
                <a:moveTo>
                  <a:pt x="0" y="0"/>
                </a:moveTo>
                <a:lnTo>
                  <a:pt x="16121847" y="0"/>
                </a:lnTo>
                <a:lnTo>
                  <a:pt x="16121847" y="7814519"/>
                </a:lnTo>
                <a:lnTo>
                  <a:pt x="0" y="78145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97" t="-1500" r="-1133" b="-272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3581" y="2299357"/>
            <a:ext cx="7805407" cy="3150226"/>
          </a:xfrm>
          <a:custGeom>
            <a:avLst/>
            <a:gdLst/>
            <a:ahLst/>
            <a:cxnLst/>
            <a:rect r="r" b="b" t="t" l="l"/>
            <a:pathLst>
              <a:path h="3150226" w="7805407">
                <a:moveTo>
                  <a:pt x="0" y="0"/>
                </a:moveTo>
                <a:lnTo>
                  <a:pt x="7805407" y="0"/>
                </a:lnTo>
                <a:lnTo>
                  <a:pt x="7805407" y="3150225"/>
                </a:lnTo>
                <a:lnTo>
                  <a:pt x="0" y="3150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16" t="0" r="-5296" b="-2222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254033" y="2299357"/>
            <a:ext cx="7945047" cy="3150226"/>
          </a:xfrm>
          <a:custGeom>
            <a:avLst/>
            <a:gdLst/>
            <a:ahLst/>
            <a:cxnLst/>
            <a:rect r="r" b="b" t="t" l="l"/>
            <a:pathLst>
              <a:path h="3150226" w="7945047">
                <a:moveTo>
                  <a:pt x="0" y="0"/>
                </a:moveTo>
                <a:lnTo>
                  <a:pt x="7945046" y="0"/>
                </a:lnTo>
                <a:lnTo>
                  <a:pt x="7945046" y="3150225"/>
                </a:lnTo>
                <a:lnTo>
                  <a:pt x="0" y="31502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30" r="-3331" b="-33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83581" y="6329858"/>
            <a:ext cx="7805407" cy="3883983"/>
          </a:xfrm>
          <a:custGeom>
            <a:avLst/>
            <a:gdLst/>
            <a:ahLst/>
            <a:cxnLst/>
            <a:rect r="r" b="b" t="t" l="l"/>
            <a:pathLst>
              <a:path h="3883983" w="7805407">
                <a:moveTo>
                  <a:pt x="0" y="0"/>
                </a:moveTo>
                <a:lnTo>
                  <a:pt x="7805407" y="0"/>
                </a:lnTo>
                <a:lnTo>
                  <a:pt x="7805407" y="3883983"/>
                </a:lnTo>
                <a:lnTo>
                  <a:pt x="0" y="38839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66" r="0" b="-366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279379" y="6329858"/>
            <a:ext cx="7828083" cy="3341537"/>
          </a:xfrm>
          <a:custGeom>
            <a:avLst/>
            <a:gdLst/>
            <a:ahLst/>
            <a:cxnLst/>
            <a:rect r="r" b="b" t="t" l="l"/>
            <a:pathLst>
              <a:path h="3341537" w="7828083">
                <a:moveTo>
                  <a:pt x="0" y="0"/>
                </a:moveTo>
                <a:lnTo>
                  <a:pt x="7828083" y="0"/>
                </a:lnTo>
                <a:lnTo>
                  <a:pt x="7828083" y="3341537"/>
                </a:lnTo>
                <a:lnTo>
                  <a:pt x="0" y="33415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793" r="-846" b="-793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363955"/>
            <a:ext cx="18131195" cy="1005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36"/>
              </a:lnSpc>
            </a:pPr>
            <a:r>
              <a:rPr lang="en-US" sz="64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SWAGGER DOCUMENTATION - VIA API GATEWAY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15000">
              <a:srgbClr val="082122">
                <a:alpha val="100000"/>
              </a:srgbClr>
            </a:gs>
            <a:gs pos="40000">
              <a:srgbClr val="295B53">
                <a:alpha val="100000"/>
              </a:srgbClr>
            </a:gs>
            <a:gs pos="60000">
              <a:srgbClr val="19B35C">
                <a:alpha val="100000"/>
              </a:srgbClr>
            </a:gs>
            <a:gs pos="85000">
              <a:srgbClr val="FCFF9A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05220" y="1914100"/>
            <a:ext cx="7780370" cy="7973671"/>
          </a:xfrm>
          <a:custGeom>
            <a:avLst/>
            <a:gdLst/>
            <a:ahLst/>
            <a:cxnLst/>
            <a:rect r="r" b="b" t="t" l="l"/>
            <a:pathLst>
              <a:path h="7973671" w="7780370">
                <a:moveTo>
                  <a:pt x="0" y="0"/>
                </a:moveTo>
                <a:lnTo>
                  <a:pt x="7780369" y="0"/>
                </a:lnTo>
                <a:lnTo>
                  <a:pt x="7780369" y="7973670"/>
                </a:lnTo>
                <a:lnTo>
                  <a:pt x="0" y="79736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642994"/>
            <a:ext cx="18810439" cy="1009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6"/>
              </a:lnSpc>
            </a:pPr>
            <a:r>
              <a:rPr lang="en-US" sz="82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PROJECT STRUCTURE &amp; TECH STACK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8796" y="2286385"/>
            <a:ext cx="8318020" cy="7736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33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Tech Stack</a:t>
            </a:r>
          </a:p>
          <a:p>
            <a:pPr algn="l">
              <a:lnSpc>
                <a:spcPts val="3171"/>
              </a:lnSpc>
            </a:pPr>
          </a:p>
          <a:p>
            <a:pPr algn="l">
              <a:lnSpc>
                <a:spcPts val="3171"/>
              </a:lnSpc>
            </a:pPr>
            <a:r>
              <a:rPr lang="en-US" sz="25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Node.js  - Runtime Environment</a:t>
            </a:r>
          </a:p>
          <a:p>
            <a:pPr algn="l">
              <a:lnSpc>
                <a:spcPts val="3171"/>
              </a:lnSpc>
            </a:pPr>
          </a:p>
          <a:p>
            <a:pPr algn="l">
              <a:lnSpc>
                <a:spcPts val="3171"/>
              </a:lnSpc>
            </a:pPr>
            <a:r>
              <a:rPr lang="en-US" sz="25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Express.js - REST API Framework</a:t>
            </a:r>
          </a:p>
          <a:p>
            <a:pPr algn="l">
              <a:lnSpc>
                <a:spcPts val="3171"/>
              </a:lnSpc>
            </a:pPr>
          </a:p>
          <a:p>
            <a:pPr algn="l">
              <a:lnSpc>
                <a:spcPts val="3171"/>
              </a:lnSpc>
            </a:pPr>
            <a:r>
              <a:rPr lang="en-US" sz="25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Swagger / Open AI 3.0 - API Documentation</a:t>
            </a:r>
          </a:p>
          <a:p>
            <a:pPr algn="l">
              <a:lnSpc>
                <a:spcPts val="3171"/>
              </a:lnSpc>
            </a:pPr>
          </a:p>
          <a:p>
            <a:pPr algn="l">
              <a:lnSpc>
                <a:spcPts val="3171"/>
              </a:lnSpc>
            </a:pPr>
            <a:r>
              <a:rPr lang="en-US" sz="25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Swagger-jsdoc - JSDoc annotations - Swagger spec </a:t>
            </a:r>
          </a:p>
          <a:p>
            <a:pPr algn="l">
              <a:lnSpc>
                <a:spcPts val="3171"/>
              </a:lnSpc>
            </a:pPr>
          </a:p>
          <a:p>
            <a:pPr algn="l">
              <a:lnSpc>
                <a:spcPts val="3171"/>
              </a:lnSpc>
            </a:pPr>
            <a:r>
              <a:rPr lang="en-US" sz="25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Swagger-ui-express - Interactive Swagger UI</a:t>
            </a:r>
          </a:p>
          <a:p>
            <a:pPr algn="l">
              <a:lnSpc>
                <a:spcPts val="3171"/>
              </a:lnSpc>
            </a:pPr>
          </a:p>
          <a:p>
            <a:pPr algn="l">
              <a:lnSpc>
                <a:spcPts val="3171"/>
              </a:lnSpc>
            </a:pPr>
            <a:r>
              <a:rPr lang="en-US" sz="25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http-proxy-middleware - Gatewaye request proxying</a:t>
            </a:r>
          </a:p>
          <a:p>
            <a:pPr algn="l">
              <a:lnSpc>
                <a:spcPts val="3171"/>
              </a:lnSpc>
            </a:pPr>
          </a:p>
          <a:p>
            <a:pPr algn="l">
              <a:lnSpc>
                <a:spcPts val="3171"/>
              </a:lnSpc>
            </a:pPr>
            <a:r>
              <a:rPr lang="en-US" sz="25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Express-rate-limit - Gateway rate limiting</a:t>
            </a:r>
          </a:p>
          <a:p>
            <a:pPr algn="l">
              <a:lnSpc>
                <a:spcPts val="3171"/>
              </a:lnSpc>
            </a:pPr>
          </a:p>
          <a:p>
            <a:pPr algn="l">
              <a:lnSpc>
                <a:spcPts val="3171"/>
              </a:lnSpc>
            </a:pPr>
            <a:r>
              <a:rPr lang="en-US" sz="25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uuid  - Unique ID generation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60660" y="3718937"/>
            <a:ext cx="11566680" cy="2553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28"/>
              </a:lnSpc>
              <a:spcBef>
                <a:spcPct val="0"/>
              </a:spcBef>
            </a:pPr>
            <a:r>
              <a:rPr lang="en-US" sz="14877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795345" y="3092795"/>
            <a:ext cx="3423515" cy="2798724"/>
          </a:xfrm>
          <a:custGeom>
            <a:avLst/>
            <a:gdLst/>
            <a:ahLst/>
            <a:cxnLst/>
            <a:rect r="r" b="b" t="t" l="l"/>
            <a:pathLst>
              <a:path h="2798724" w="3423515">
                <a:moveTo>
                  <a:pt x="0" y="0"/>
                </a:moveTo>
                <a:lnTo>
                  <a:pt x="3423516" y="0"/>
                </a:lnTo>
                <a:lnTo>
                  <a:pt x="3423516" y="2798724"/>
                </a:lnTo>
                <a:lnTo>
                  <a:pt x="0" y="27987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2069139" y="3092795"/>
            <a:ext cx="3423515" cy="2798724"/>
          </a:xfrm>
          <a:custGeom>
            <a:avLst/>
            <a:gdLst/>
            <a:ahLst/>
            <a:cxnLst/>
            <a:rect r="r" b="b" t="t" l="l"/>
            <a:pathLst>
              <a:path h="2798724" w="3423515">
                <a:moveTo>
                  <a:pt x="3423516" y="0"/>
                </a:moveTo>
                <a:lnTo>
                  <a:pt x="0" y="0"/>
                </a:lnTo>
                <a:lnTo>
                  <a:pt x="0" y="2798724"/>
                </a:lnTo>
                <a:lnTo>
                  <a:pt x="3423516" y="2798724"/>
                </a:lnTo>
                <a:lnTo>
                  <a:pt x="342351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5063866"/>
            <a:ext cx="637073" cy="159268"/>
          </a:xfrm>
          <a:custGeom>
            <a:avLst/>
            <a:gdLst/>
            <a:ahLst/>
            <a:cxnLst/>
            <a:rect r="r" b="b" t="t" l="l"/>
            <a:pathLst>
              <a:path h="159268" w="637073">
                <a:moveTo>
                  <a:pt x="0" y="0"/>
                </a:moveTo>
                <a:lnTo>
                  <a:pt x="637073" y="0"/>
                </a:lnTo>
                <a:lnTo>
                  <a:pt x="637073" y="159268"/>
                </a:lnTo>
                <a:lnTo>
                  <a:pt x="0" y="1592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622227" y="5063866"/>
            <a:ext cx="637073" cy="159268"/>
          </a:xfrm>
          <a:custGeom>
            <a:avLst/>
            <a:gdLst/>
            <a:ahLst/>
            <a:cxnLst/>
            <a:rect r="r" b="b" t="t" l="l"/>
            <a:pathLst>
              <a:path h="159268" w="637073">
                <a:moveTo>
                  <a:pt x="0" y="0"/>
                </a:moveTo>
                <a:lnTo>
                  <a:pt x="637073" y="0"/>
                </a:lnTo>
                <a:lnTo>
                  <a:pt x="637073" y="159268"/>
                </a:lnTo>
                <a:lnTo>
                  <a:pt x="0" y="1592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44100" y="8180971"/>
            <a:ext cx="7315200" cy="1077329"/>
          </a:xfrm>
          <a:custGeom>
            <a:avLst/>
            <a:gdLst/>
            <a:ahLst/>
            <a:cxnLst/>
            <a:rect r="r" b="b" t="t" l="l"/>
            <a:pathLst>
              <a:path h="1077329" w="7315200">
                <a:moveTo>
                  <a:pt x="0" y="0"/>
                </a:moveTo>
                <a:lnTo>
                  <a:pt x="7315200" y="0"/>
                </a:lnTo>
                <a:lnTo>
                  <a:pt x="7315200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028700" y="8180971"/>
            <a:ext cx="7315200" cy="1077329"/>
          </a:xfrm>
          <a:custGeom>
            <a:avLst/>
            <a:gdLst/>
            <a:ahLst/>
            <a:cxnLst/>
            <a:rect r="r" b="b" t="t" l="l"/>
            <a:pathLst>
              <a:path h="1077329" w="7315200">
                <a:moveTo>
                  <a:pt x="7315200" y="0"/>
                </a:moveTo>
                <a:lnTo>
                  <a:pt x="0" y="0"/>
                </a:lnTo>
                <a:lnTo>
                  <a:pt x="0" y="1077329"/>
                </a:lnTo>
                <a:lnTo>
                  <a:pt x="7315200" y="10773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DAHEwMyzGzA</dc:identifier>
  <dcterms:modified xsi:type="dcterms:W3CDTF">2011-08-01T06:04:30Z</dcterms:modified>
  <cp:revision>1</cp:revision>
  <dc:title>EcoRoute</dc:title>
</cp:coreProperties>
</file>